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Century Gothic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19E947F-3B16-4F78-9D22-761773BA1540}">
  <a:tblStyle styleId="{019E947F-3B16-4F78-9D22-761773BA154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CenturyGothic-bold.fntdata"/><Relationship Id="rId12" Type="http://schemas.openxmlformats.org/officeDocument/2006/relationships/font" Target="fonts/CenturyGothic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CenturyGothic-boldItalic.fntdata"/><Relationship Id="rId14" Type="http://schemas.openxmlformats.org/officeDocument/2006/relationships/font" Target="fonts/CenturyGothic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11f5d5408b_0_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11f5d5408b_0_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g311f5d5408b_0_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slidemake.com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6.png"/><Relationship Id="rId7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8.jpg"/><Relationship Id="rId7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/>
          <p:nvPr/>
        </p:nvSpPr>
        <p:spPr>
          <a:xfrm>
            <a:off x="17767" y="751767"/>
            <a:ext cx="11319900" cy="49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C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C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400" u="none" cap="none" strike="noStrike">
                <a:solidFill>
                  <a:srgbClr val="C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K. J. Somaiya Information Technology(</a:t>
            </a:r>
            <a:r>
              <a:rPr b="1" lang="en-US" sz="2400">
                <a:solidFill>
                  <a:srgbClr val="C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KJSIT</a:t>
            </a:r>
            <a:r>
              <a:rPr b="1" i="0" lang="en-US" sz="2400" u="none" cap="none" strike="noStrike">
                <a:solidFill>
                  <a:srgbClr val="C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), Mumbai</a:t>
            </a:r>
            <a:endParaRPr b="1" i="0" sz="2400" u="none" cap="none" strike="noStrike">
              <a:solidFill>
                <a:srgbClr val="C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2400" u="sng" cap="none" strike="noStrike">
                <a:solidFill>
                  <a:srgbClr val="0523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Electronics and Telecommunication Engineering </a:t>
            </a:r>
            <a:endParaRPr b="1" i="0" sz="2400" u="sng" cap="none" strike="noStrike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400" u="none" cap="none" strike="noStrike">
                <a:solidFill>
                  <a:srgbClr val="0523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Academic Year 2023-24 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US" sz="2400">
                <a:solidFill>
                  <a:srgbClr val="0523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PBL I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US" sz="2400">
                <a:solidFill>
                  <a:srgbClr val="0523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</a:t>
            </a:r>
            <a:endParaRPr b="1" i="0" sz="2400" u="none" cap="none" strike="noStrike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US" sz="2400">
                <a:solidFill>
                  <a:srgbClr val="222A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Topic-</a:t>
            </a:r>
            <a:r>
              <a:rPr b="1" i="0" lang="en-US" sz="2400" u="none" cap="none" strike="noStrike">
                <a:solidFill>
                  <a:srgbClr val="222A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400" u="sng">
                <a:solidFill>
                  <a:srgbClr val="222A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Obstacle Avoiding Robot</a:t>
            </a:r>
            <a:endParaRPr b="0" i="0" sz="19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C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rPr b="1" lang="en-US" sz="2700">
                <a:solidFill>
                  <a:srgbClr val="0523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Guide </a:t>
            </a:r>
            <a:r>
              <a:rPr b="1" i="0" lang="en-US" sz="2700" u="none" cap="none" strike="noStrike">
                <a:solidFill>
                  <a:srgbClr val="0523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</a:t>
            </a:r>
            <a:r>
              <a:rPr b="1" lang="en-US" sz="2700">
                <a:solidFill>
                  <a:srgbClr val="0523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Prof.</a:t>
            </a:r>
            <a:r>
              <a:rPr b="1" i="0" lang="en-US" sz="2700" u="none" cap="none" strike="noStrike">
                <a:solidFill>
                  <a:srgbClr val="0523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700">
                <a:solidFill>
                  <a:srgbClr val="0523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Amit Kukreja</a:t>
            </a:r>
            <a:endParaRPr b="1" i="0" sz="2700" u="none" cap="none" strike="noStrike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2400" u="sng" cap="none" strike="noStrike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1600" u="sng" cap="none" strike="noStrike">
                <a:solidFill>
                  <a:srgbClr val="0523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</a:t>
            </a:r>
            <a:endParaRPr b="1" i="0" sz="1600" u="sng" cap="none" strike="noStrike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>
            <a:hlinkClick r:id="rId3"/>
          </p:cNvPr>
          <p:cNvSpPr/>
          <p:nvPr/>
        </p:nvSpPr>
        <p:spPr>
          <a:xfrm>
            <a:off x="9753600" y="6096000"/>
            <a:ext cx="2438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7900" y="229033"/>
            <a:ext cx="5587780" cy="9625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93" name="Google Shape;9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" y="5919608"/>
            <a:ext cx="1291200" cy="96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37780" y="6492"/>
            <a:ext cx="747612" cy="9137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5400000">
            <a:off x="9405863" y="-1180144"/>
            <a:ext cx="745267" cy="311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71607" y="6497"/>
            <a:ext cx="747613" cy="745267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 flipH="1">
            <a:off x="129767" y="4891433"/>
            <a:ext cx="12192000" cy="16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1" sz="19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1" lang="en-US" sz="1900">
                <a:solidFill>
                  <a:schemeClr val="dk1"/>
                </a:solidFill>
              </a:rPr>
              <a:t>                                         </a:t>
            </a:r>
            <a:r>
              <a:rPr b="1" lang="en-US" sz="1900">
                <a:solidFill>
                  <a:schemeClr val="dk1"/>
                </a:solidFill>
              </a:rPr>
              <a:t>Project Members:</a:t>
            </a:r>
            <a:r>
              <a:rPr b="1" i="1" lang="en-US" sz="1900">
                <a:solidFill>
                  <a:schemeClr val="dk1"/>
                </a:solidFill>
              </a:rPr>
              <a:t>    </a:t>
            </a:r>
            <a:r>
              <a:rPr b="1" lang="en-US" sz="1900"/>
              <a:t>Dhruv Rathod</a:t>
            </a:r>
            <a:r>
              <a:rPr b="1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(B45 )</a:t>
            </a:r>
            <a:endParaRPr b="1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</a:rPr>
              <a:t>                 Soham Sahastrabuddhe </a:t>
            </a:r>
            <a:r>
              <a:rPr b="1" lang="en-US" sz="1900"/>
              <a:t>(B47)</a:t>
            </a:r>
            <a:endParaRPr b="1" sz="19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lang="en-US" sz="1900"/>
              <a:t>                                                                          </a:t>
            </a:r>
            <a:r>
              <a:rPr b="1" lang="en-US" sz="1900">
                <a:solidFill>
                  <a:schemeClr val="dk1"/>
                </a:solidFill>
              </a:rPr>
              <a:t>Rishabh Tiwari (B58 )</a:t>
            </a:r>
            <a:endParaRPr b="1"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sz="19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lang="en-US" sz="1900"/>
              <a:t>                                                                        </a:t>
            </a:r>
            <a:endParaRPr b="1" sz="1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4926905" y="1460761"/>
            <a:ext cx="478058" cy="103581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03" name="Google Shape;103;p15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44462" y="332681"/>
            <a:ext cx="968545" cy="721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11029472" y="5716331"/>
            <a:ext cx="478059" cy="1846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07253" y="5934335"/>
            <a:ext cx="346080" cy="58685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</a:pPr>
            <a:r>
              <a:rPr lang="en-US"/>
              <a:t>Electronics and Telecommunication Engineering Department</a:t>
            </a:r>
            <a:endParaRPr/>
          </a:p>
        </p:txBody>
      </p:sp>
      <p:sp>
        <p:nvSpPr>
          <p:cNvPr id="107" name="Google Shape;10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754657" y="1168867"/>
            <a:ext cx="834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573725" y="1779098"/>
            <a:ext cx="7074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476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our journey through automation and robotics, one of the quintessential projects is the obstacle-avoiding bot.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76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This project epitomizes the intersection of fundamental robotics and practical application, demonstrating how sensors, microcontrollers, and programming come together to create an autonomous system capable of navigating its environment.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8932606" y="2226772"/>
            <a:ext cx="2477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1" name="Google Shape;11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0649" y="137275"/>
            <a:ext cx="4769301" cy="82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19325" y="1503247"/>
            <a:ext cx="4238876" cy="3187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4926905" y="1460761"/>
            <a:ext cx="478058" cy="103581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18" name="Google Shape;118;p16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44462" y="332681"/>
            <a:ext cx="968545" cy="721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11029472" y="5716331"/>
            <a:ext cx="478059" cy="1846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07253" y="5934335"/>
            <a:ext cx="346080" cy="586852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</a:pPr>
            <a:r>
              <a:rPr lang="en-US"/>
              <a:t>Electronics and Telecommunication Engineering Department</a:t>
            </a:r>
            <a:endParaRPr/>
          </a:p>
        </p:txBody>
      </p:sp>
      <p:sp>
        <p:nvSpPr>
          <p:cNvPr id="122" name="Google Shape;122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995645" y="1219854"/>
            <a:ext cx="8340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</a:t>
            </a:r>
            <a:endParaRPr b="1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440649" y="1988556"/>
            <a:ext cx="52185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342900" marR="0" rtl="0" algn="just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Times New Roman"/>
              <a:buChar char="•"/>
            </a:pPr>
            <a:r>
              <a:rPr i="0" lang="en-US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STM32(Bl</a:t>
            </a:r>
            <a:r>
              <a:rPr lang="en-US" sz="1800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ack</a:t>
            </a:r>
            <a:r>
              <a:rPr i="0" lang="en-US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pill)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342900" marR="0" rtl="0" algn="just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Times New Roman"/>
              <a:buChar char="•"/>
            </a:pPr>
            <a:r>
              <a:rPr i="0" lang="en-US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Ultrasonic sensor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342900" marR="0" rtl="0" algn="just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Times New Roman"/>
              <a:buChar char="•"/>
            </a:pPr>
            <a:r>
              <a:rPr i="0" lang="en-US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DC motor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342900" marR="0" rtl="0" algn="just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Times New Roman"/>
              <a:buChar char="•"/>
            </a:pPr>
            <a:r>
              <a:rPr i="0" lang="en-US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Motor driver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342900" marR="0" rtl="0" algn="just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Times New Roman"/>
              <a:buChar char="•"/>
            </a:pPr>
            <a:r>
              <a:rPr i="0" lang="en-US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Battery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Breadboard and Jumper Wires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rgbClr val="0D0D0D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5" name="Google Shape;125;p16"/>
          <p:cNvPicPr preferRelativeResize="0"/>
          <p:nvPr/>
        </p:nvPicPr>
        <p:blipFill rotWithShape="1">
          <a:blip r:embed="rId6">
            <a:alphaModFix/>
          </a:blip>
          <a:srcRect b="0" l="15061" r="0" t="0"/>
          <a:stretch/>
        </p:blipFill>
        <p:spPr>
          <a:xfrm>
            <a:off x="5659120" y="1440948"/>
            <a:ext cx="6153887" cy="4067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0649" y="137275"/>
            <a:ext cx="4769301" cy="82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4926905" y="1460761"/>
            <a:ext cx="478058" cy="103581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32" name="Google Shape;132;p17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44462" y="332681"/>
            <a:ext cx="968400" cy="72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11029472" y="5716331"/>
            <a:ext cx="478059" cy="1846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07254" y="5934336"/>
            <a:ext cx="346080" cy="58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</a:pPr>
            <a:r>
              <a:rPr lang="en-US"/>
              <a:t>Electronics and Telecommunication Engineering Department</a:t>
            </a:r>
            <a:endParaRPr/>
          </a:p>
        </p:txBody>
      </p:sp>
      <p:sp>
        <p:nvSpPr>
          <p:cNvPr id="136" name="Google Shape;136;p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1266432" y="1144829"/>
            <a:ext cx="834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 </a:t>
            </a:r>
            <a:endParaRPr sz="2000"/>
          </a:p>
        </p:txBody>
      </p:sp>
      <p:sp>
        <p:nvSpPr>
          <p:cNvPr descr="Problem Solution Road Sign Illustration Design Stock Illustration 125572139" id="138" name="Google Shape;138;p17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9" name="Google Shape;139;p17"/>
          <p:cNvGraphicFramePr/>
          <p:nvPr/>
        </p:nvGraphicFramePr>
        <p:xfrm>
          <a:off x="1324500" y="1844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{019E947F-3B16-4F78-9D22-761773BA1540}</a:tableStyleId>
              </a:tblPr>
              <a:tblGrid>
                <a:gridCol w="1046875"/>
                <a:gridCol w="4443250"/>
                <a:gridCol w="2396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Sr No.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Components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Price in INR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30200" lvl="0" marL="3429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800"/>
                        <a:buChar char="•"/>
                      </a:pPr>
                      <a:r>
                        <a:rPr lang="en-US" sz="1800">
                          <a:solidFill>
                            <a:srgbClr val="0D0D0D"/>
                          </a:solidFill>
                          <a:highlight>
                            <a:schemeClr val="lt1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STM32(Black pill)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30200" lvl="0" marL="3429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800"/>
                        <a:buChar char="•"/>
                      </a:pPr>
                      <a:r>
                        <a:rPr lang="en-US" sz="1800">
                          <a:solidFill>
                            <a:srgbClr val="0D0D0D"/>
                          </a:solidFill>
                          <a:highlight>
                            <a:schemeClr val="lt1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Ultrasonic sensor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30200" lvl="0" marL="3429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800"/>
                        <a:buChar char="•"/>
                      </a:pPr>
                      <a:r>
                        <a:rPr lang="en-US" sz="1800">
                          <a:solidFill>
                            <a:srgbClr val="0D0D0D"/>
                          </a:solidFill>
                          <a:highlight>
                            <a:schemeClr val="lt1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DC motor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150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30200" lvl="0" marL="3429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800"/>
                        <a:buChar char="•"/>
                      </a:pPr>
                      <a:r>
                        <a:rPr lang="en-US" sz="1800">
                          <a:solidFill>
                            <a:srgbClr val="0D0D0D"/>
                          </a:solidFill>
                          <a:highlight>
                            <a:schemeClr val="lt1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Motor driver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30200" lvl="0" marL="3429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800"/>
                        <a:buChar char="•"/>
                      </a:pPr>
                      <a:r>
                        <a:rPr lang="en-US" sz="1800">
                          <a:solidFill>
                            <a:srgbClr val="0D0D0D"/>
                          </a:solidFill>
                          <a:highlight>
                            <a:schemeClr val="lt1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Battery 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42900" lvl="0" marL="3429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Char char="•"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Breadboard and Wires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300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40" name="Google Shape;14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0649" y="137275"/>
            <a:ext cx="4769301" cy="82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4926905" y="1460761"/>
            <a:ext cx="478058" cy="103581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46" name="Google Shape;146;p18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44462" y="332681"/>
            <a:ext cx="968545" cy="721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11029472" y="5716331"/>
            <a:ext cx="478059" cy="1846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07253" y="5934335"/>
            <a:ext cx="346080" cy="58685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</a:pPr>
            <a:r>
              <a:rPr lang="en-US"/>
              <a:t>Electronics and Telecommunication Engineering Department</a:t>
            </a:r>
            <a:endParaRPr/>
          </a:p>
        </p:txBody>
      </p:sp>
      <p:sp>
        <p:nvSpPr>
          <p:cNvPr id="150" name="Google Shape;15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913007" y="1361579"/>
            <a:ext cx="834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676044" y="1978418"/>
            <a:ext cx="92475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Times New Roman"/>
              <a:buChar char="●"/>
            </a:pPr>
            <a:r>
              <a:rPr lang="en-US" sz="1800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battery powers the entire bot, including the STM32 microcontroller, motor driver, and ultrasonic sensor.</a:t>
            </a:r>
            <a:endParaRPr sz="1800"/>
          </a:p>
          <a:p>
            <a:pPr indent="-3175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Times New Roman"/>
              <a:buChar char="●"/>
            </a:pPr>
            <a:r>
              <a:rPr lang="en-US" sz="1800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It measures the time it takes for the waves to bounce back after hitting an obstacle.</a:t>
            </a:r>
            <a:endParaRPr sz="1800"/>
          </a:p>
          <a:p>
            <a:pPr indent="-3175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Times New Roman"/>
              <a:buChar char="●"/>
            </a:pPr>
            <a:r>
              <a:rPr lang="en-US" sz="1800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This time measurement is used to calculate the distance to the obstacle.</a:t>
            </a:r>
            <a:endParaRPr sz="1800"/>
          </a:p>
          <a:p>
            <a:pPr indent="-3175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Times New Roman"/>
              <a:buChar char="●"/>
            </a:pPr>
            <a:r>
              <a:rPr lang="en-US" sz="1800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If the distance is less than a predefined threshold (indicating an obstacle is close), the microcontroller decides on the appropriate action to avoid the obstacle.</a:t>
            </a:r>
            <a:endParaRPr sz="1800"/>
          </a:p>
          <a:p>
            <a:pPr indent="-3175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Times New Roman"/>
              <a:buChar char="●"/>
            </a:pPr>
            <a:r>
              <a:rPr lang="en-US" sz="1800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Based on the distance data, the microcontroller sends signals to the motor driver.</a:t>
            </a:r>
            <a:endParaRPr sz="1800"/>
          </a:p>
          <a:p>
            <a:pPr indent="-3175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Times New Roman"/>
              <a:buChar char="●"/>
            </a:pPr>
            <a:r>
              <a:rPr lang="en-US" sz="1800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The motor driver then controls the DC motors to change the bot’s direction or stop it.</a:t>
            </a:r>
            <a:endParaRPr sz="1800"/>
          </a:p>
          <a:p>
            <a:pPr indent="-3175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Times New Roman"/>
              <a:buChar char="●"/>
            </a:pPr>
            <a:r>
              <a:rPr lang="en-US" sz="1800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If no obstacle is detected, the bot continues moving forward.</a:t>
            </a:r>
            <a:endParaRPr b="1" sz="1800">
              <a:solidFill>
                <a:srgbClr val="0D0D0D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3" name="Google Shape;15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0649" y="137275"/>
            <a:ext cx="4769301" cy="82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4926905" y="1460761"/>
            <a:ext cx="478058" cy="103581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59" name="Google Shape;159;p19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44462" y="332681"/>
            <a:ext cx="968545" cy="721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11029472" y="5716331"/>
            <a:ext cx="478059" cy="1846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07253" y="5934335"/>
            <a:ext cx="346080" cy="5868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food, room, drawing&#10;&#10;Description automatically generated" id="162" name="Google Shape;16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5928" y="152400"/>
            <a:ext cx="1038575" cy="106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</a:pPr>
            <a:r>
              <a:rPr lang="en-US"/>
              <a:t>Electronics and Telecommunication Engineering Department</a:t>
            </a:r>
            <a:endParaRPr/>
          </a:p>
        </p:txBody>
      </p:sp>
      <p:sp>
        <p:nvSpPr>
          <p:cNvPr id="164" name="Google Shape;16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3571567" y="2413337"/>
            <a:ext cx="5048865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 sz="6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